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a847ec52a34b5c" /><Relationship Type="http://schemas.openxmlformats.org/officeDocument/2006/relationships/extended-properties" Target="/docProps/app.xml" Id="Rc71f2e5aeebe4313" /><Relationship Type="http://schemas.openxmlformats.org/officeDocument/2006/relationships/officeDocument" Target="/ppt/presentation.xml" Id="Rd9b22cde483641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08dc74caf24901"/>
  </p:sldMasterIdLst>
  <p:notesMasterIdLst>
    <p:notesMasterId xmlns:r="http://schemas.openxmlformats.org/officeDocument/2006/relationships" r:id="Rb36771b0b5c64bc6"/>
  </p:notesMasterIdLst>
  <p:sldIdLst>
    <p:sldId xmlns:r="http://schemas.openxmlformats.org/officeDocument/2006/relationships" id="256" r:id="R4c9511ecd7b748bb"/>
    <p:sldId xmlns:r="http://schemas.openxmlformats.org/officeDocument/2006/relationships" id="257" r:id="R98bec7b863244109"/>
    <p:sldId xmlns:r="http://schemas.openxmlformats.org/officeDocument/2006/relationships" id="258" r:id="Re3df2d7f28c44235"/>
    <p:sldId xmlns:r="http://schemas.openxmlformats.org/officeDocument/2006/relationships" id="259" r:id="R718f5cf83ebb4b97"/>
    <p:sldId xmlns:r="http://schemas.openxmlformats.org/officeDocument/2006/relationships" id="260" r:id="R1f8f9a229c7c435d"/>
    <p:sldId xmlns:r="http://schemas.openxmlformats.org/officeDocument/2006/relationships" id="261" r:id="Rc42b17a4ed4141b6"/>
    <p:sldId xmlns:r="http://schemas.openxmlformats.org/officeDocument/2006/relationships" id="262" r:id="Rd925a9cf154e472c"/>
    <p:sldId xmlns:r="http://schemas.openxmlformats.org/officeDocument/2006/relationships" id="263" r:id="R320e397dd7e3415f"/>
    <p:sldId xmlns:r="http://schemas.openxmlformats.org/officeDocument/2006/relationships" id="264" r:id="Re5c311cda73c4a83"/>
    <p:sldId xmlns:r="http://schemas.openxmlformats.org/officeDocument/2006/relationships" id="265" r:id="R932a0d483da54a46"/>
    <p:sldId xmlns:r="http://schemas.openxmlformats.org/officeDocument/2006/relationships" id="266" r:id="R9db5e5d5306348db"/>
    <p:sldId xmlns:r="http://schemas.openxmlformats.org/officeDocument/2006/relationships" id="267" r:id="R7152dc6e1df1429f"/>
    <p:sldId xmlns:r="http://schemas.openxmlformats.org/officeDocument/2006/relationships" id="268" r:id="Rfcd4baa020f148f2"/>
    <p:sldId xmlns:r="http://schemas.openxmlformats.org/officeDocument/2006/relationships" id="269" r:id="R70120d88d9ea479e"/>
    <p:sldId xmlns:r="http://schemas.openxmlformats.org/officeDocument/2006/relationships" id="270" r:id="R91894a6dc21746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8e25a068cf49d2" /><Relationship Type="http://schemas.openxmlformats.org/officeDocument/2006/relationships/slideMaster" Target="/ppt/slideMasters/slideMaster1.xml" Id="R7208dc74caf24901" /><Relationship Type="http://schemas.openxmlformats.org/officeDocument/2006/relationships/notesMaster" Target="/ppt/notesMasters/notesMaster1.xml" Id="Rb36771b0b5c64bc6" /><Relationship Type="http://schemas.openxmlformats.org/officeDocument/2006/relationships/presProps" Target="/ppt/presProps.xml" Id="R3d9293a2642244f1" /><Relationship Type="http://schemas.openxmlformats.org/officeDocument/2006/relationships/tableStyles" Target="/ppt/tableStyles.xml" Id="R6a3f0c502f9b4805" /><Relationship Type="http://schemas.openxmlformats.org/officeDocument/2006/relationships/slide" Target="/ppt/slides/slide1.xml" Id="R4c9511ecd7b748bb" /><Relationship Type="http://schemas.openxmlformats.org/officeDocument/2006/relationships/slide" Target="/ppt/slides/slide2.xml" Id="R98bec7b863244109" /><Relationship Type="http://schemas.openxmlformats.org/officeDocument/2006/relationships/slide" Target="/ppt/slides/slide3.xml" Id="Re3df2d7f28c44235" /><Relationship Type="http://schemas.openxmlformats.org/officeDocument/2006/relationships/slide" Target="/ppt/slides/slide4.xml" Id="R718f5cf83ebb4b97" /><Relationship Type="http://schemas.openxmlformats.org/officeDocument/2006/relationships/slide" Target="/ppt/slides/slide5.xml" Id="R1f8f9a229c7c435d" /><Relationship Type="http://schemas.openxmlformats.org/officeDocument/2006/relationships/slide" Target="/ppt/slides/slide6.xml" Id="Rc42b17a4ed4141b6" /><Relationship Type="http://schemas.openxmlformats.org/officeDocument/2006/relationships/slide" Target="/ppt/slides/slide7.xml" Id="Rd925a9cf154e472c" /><Relationship Type="http://schemas.openxmlformats.org/officeDocument/2006/relationships/slide" Target="/ppt/slides/slide8.xml" Id="R320e397dd7e3415f" /><Relationship Type="http://schemas.openxmlformats.org/officeDocument/2006/relationships/slide" Target="/ppt/slides/slide9.xml" Id="Re5c311cda73c4a83" /><Relationship Type="http://schemas.openxmlformats.org/officeDocument/2006/relationships/slide" Target="/ppt/slides/slide10.xml" Id="R932a0d483da54a46" /><Relationship Type="http://schemas.openxmlformats.org/officeDocument/2006/relationships/slide" Target="/ppt/slides/slide11.xml" Id="R9db5e5d5306348db" /><Relationship Type="http://schemas.openxmlformats.org/officeDocument/2006/relationships/slide" Target="/ppt/slides/slide12.xml" Id="R7152dc6e1df1429f" /><Relationship Type="http://schemas.openxmlformats.org/officeDocument/2006/relationships/slide" Target="/ppt/slides/slide13.xml" Id="Rfcd4baa020f148f2" /><Relationship Type="http://schemas.openxmlformats.org/officeDocument/2006/relationships/slide" Target="/ppt/slides/slide14.xml" Id="R70120d88d9ea479e" /><Relationship Type="http://schemas.openxmlformats.org/officeDocument/2006/relationships/slide" Target="/ppt/slides/slide15.xml" Id="R91894a6dc217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1f8884692a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b4d03cf2cf46d9" /><Relationship Type="http://schemas.openxmlformats.org/officeDocument/2006/relationships/notesMaster" Target="/ppt/notesMasters/notesMaster1.xml" Id="R2c4d318254ec41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2969eba1c4ae9" /><Relationship Type="http://schemas.openxmlformats.org/officeDocument/2006/relationships/notesMaster" Target="/ppt/notesMasters/notesMaster1.xml" Id="Rbbaaba3e3e5341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60e05b65924030" /><Relationship Type="http://schemas.openxmlformats.org/officeDocument/2006/relationships/notesMaster" Target="/ppt/notesMasters/notesMaster1.xml" Id="Rfeaf00feef5c45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ea60a52fba4fcd" /><Relationship Type="http://schemas.openxmlformats.org/officeDocument/2006/relationships/notesMaster" Target="/ppt/notesMasters/notesMaster1.xml" Id="R7a748f469bec41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7e02d8ad054eb6" /><Relationship Type="http://schemas.openxmlformats.org/officeDocument/2006/relationships/notesMaster" Target="/ppt/notesMasters/notesMaster1.xml" Id="R86e6d23a0d4b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da02ff6a9b4d91" /><Relationship Type="http://schemas.openxmlformats.org/officeDocument/2006/relationships/notesMaster" Target="/ppt/notesMasters/notesMaster1.xml" Id="Rd76e0039db1c49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13224eedeb4dbe" /><Relationship Type="http://schemas.openxmlformats.org/officeDocument/2006/relationships/notesMaster" Target="/ppt/notesMasters/notesMaster1.xml" Id="Re17f5b508e3d4f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775077c2d24ddf" /><Relationship Type="http://schemas.openxmlformats.org/officeDocument/2006/relationships/notesMaster" Target="/ppt/notesMasters/notesMaster1.xml" Id="R706cd3a9ce134c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ce0a02ef484ab7" /><Relationship Type="http://schemas.openxmlformats.org/officeDocument/2006/relationships/notesMaster" Target="/ppt/notesMasters/notesMaster1.xml" Id="R8e67241aade940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2a8572e43f4aea" /><Relationship Type="http://schemas.openxmlformats.org/officeDocument/2006/relationships/notesMaster" Target="/ppt/notesMasters/notesMaster1.xml" Id="R76c6291baa514b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a8f073c78649c3" /><Relationship Type="http://schemas.openxmlformats.org/officeDocument/2006/relationships/notesMaster" Target="/ppt/notesMasters/notesMaster1.xml" Id="Rf89a7784575646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6a98857aa64d34" /><Relationship Type="http://schemas.openxmlformats.org/officeDocument/2006/relationships/notesMaster" Target="/ppt/notesMasters/notesMaster1.xml" Id="Ra1f0b9fef0e341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7978efd7d6454d" /><Relationship Type="http://schemas.openxmlformats.org/officeDocument/2006/relationships/notesMaster" Target="/ppt/notesMasters/notesMaster1.xml" Id="R72db2165b0b240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71e188ef884cde" /><Relationship Type="http://schemas.openxmlformats.org/officeDocument/2006/relationships/notesMaster" Target="/ppt/notesMasters/notesMaster1.xml" Id="R3ee35b6bb49945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e623fc18da4fd8" /><Relationship Type="http://schemas.openxmlformats.org/officeDocument/2006/relationships/notesMaster" Target="/ppt/notesMasters/notesMaster1.xml" Id="R7f846659aff046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the assessors and introduce the group.</a:t>
            </a:r>
          </a:p>
          <a:p xmlns:a="http://schemas.openxmlformats.org/drawingml/2006/main">
            <a:r>
              <a:t>State that the team will show the problem, design, implementation, evidence, live CRUD demonstration, and reflection.</a:t>
            </a:r>
          </a:p>
          <a:p xmlns:a="http://schemas.openxmlformats.org/drawingml/2006/main">
            <a:r>
              <a:t>Target time: 20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customer and administrator needs in plain language.</a:t>
            </a:r>
          </a:p>
          <a:p xmlns:a="http://schemas.openxmlformats.org/drawingml/2006/main">
            <a:r>
              <a:t>The completed system combines the former frontend and backend projects in one repository.</a:t>
            </a:r>
          </a:p>
          <a:p xmlns:a="http://schemas.openxmlformats.org/drawingml/2006/main">
            <a:r>
              <a:t>Target time: 50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docs/user-research-summary, docs/industry-investigation, and docs/product-data-investigation.</a:t>
            </a:r>
          </a:p>
          <a:p xmlns:a="http://schemas.openxmlformats.org/drawingml/2006/main">
            <a:r>
              <a:t>Emphasise that research changed the design: variants, filters, trust information and administrator maintenance all map to findings.</a:t>
            </a:r>
          </a:p>
          <a:p xmlns:a="http://schemas.openxmlformats.org/drawingml/2006/main">
            <a:r>
              <a:t>Target time: 60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sprint progression to show planning before coding and testing after integration.</a:t>
            </a:r>
          </a:p>
          <a:p xmlns:a="http://schemas.openxmlformats.org/drawingml/2006/main">
            <a:r>
              <a:t>Git history preserves the research and development milestones.</a:t>
            </a:r>
          </a:p>
          <a:p xmlns:a="http://schemas.openxmlformats.org/drawingml/2006/main">
            <a:r>
              <a:t>Target time: 50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one example: an administrator changes a price, React sends PUT /api/products/:id, Express validates it, SQLite updates the row, and React refreshes the list.</a:t>
            </a:r>
          </a:p>
          <a:p xmlns:a="http://schemas.openxmlformats.org/drawingml/2006/main">
            <a:r>
              <a:t>This is the most important integration explanation in the rubric.</a:t>
            </a:r>
          </a:p>
          <a:p xmlns:a="http://schemas.openxmlformats.org/drawingml/2006/main">
            <a:r>
              <a:t>Target time: 70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keys uniquely identify each row. Foreign keys connect related records and protect data integrity.</a:t>
            </a:r>
          </a:p>
          <a:p xmlns:a="http://schemas.openxmlformats.org/drawingml/2006/main">
            <a:r>
              <a:t>Important relationship: one product belongs to one category and can have many size and colour variants.</a:t>
            </a:r>
          </a:p>
          <a:p xmlns:a="http://schemas.openxmlformats.org/drawingml/2006/main">
            <a:r>
              <a:t>The schema also defines constraints, indexes and three readable SQL views.</a:t>
            </a:r>
          </a:p>
          <a:p xmlns:a="http://schemas.openxmlformats.org/drawingml/2006/main">
            <a:r>
              <a:t>Target time: 75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responsive React components, reusable navigation, and role-specific pages.</a:t>
            </a:r>
          </a:p>
          <a:p xmlns:a="http://schemas.openxmlformats.org/drawingml/2006/main">
            <a:r>
              <a:t>The frontend does not own product data. It fetches the catalogue from the API and refreshes after CRUD operations.</a:t>
            </a:r>
          </a:p>
          <a:p xmlns:a="http://schemas.openxmlformats.org/drawingml/2006/main">
            <a:r>
              <a:t>Target time: 60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Express opens the SQLite database, validates the payload and uses parameterised queries.</a:t>
            </a:r>
          </a:p>
          <a:p xmlns:a="http://schemas.openxmlformats.org/drawingml/2006/main">
            <a:r>
              <a:t>Transactions keep the product row and variant rows consistent during create and update.</a:t>
            </a:r>
          </a:p>
          <a:p xmlns:a="http://schemas.openxmlformats.org/drawingml/2006/main">
            <a:r>
              <a:t>Target time: 65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temporary record during the live demonstration: create it, read it, change the price, then delete it.</a:t>
            </a:r>
          </a:p>
          <a:p xmlns:a="http://schemas.openxmlformats.org/drawingml/2006/main">
            <a:r>
              <a:t>Mention that foreign keys prevent deletion when another record depends on the product.</a:t>
            </a:r>
          </a:p>
          <a:p xmlns:a="http://schemas.openxmlformats.org/drawingml/2006/main">
            <a:r>
              <a:t>Target time: 60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docs/sprint4-testing-evidence.md and tests/api-crud-test.mjs.</a:t>
            </a:r>
          </a:p>
          <a:p xmlns:a="http://schemas.openxmlformats.org/drawingml/2006/main">
            <a:r>
              <a:t>Mention manual checks for health, database connection, product count and category count.</a:t>
            </a:r>
          </a:p>
          <a:p xmlns:a="http://schemas.openxmlformats.org/drawingml/2006/main">
            <a:r>
              <a:t>Target time: 60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repository folders: src, backend, database, tests, docs and postman.</a:t>
            </a:r>
          </a:p>
          <a:p xmlns:a="http://schemas.openxmlformats.org/drawingml/2006/main">
            <a:r>
              <a:t>Point to commit history and merged work rather than relying on verbal claims.</a:t>
            </a:r>
          </a:p>
          <a:p xmlns:a="http://schemas.openxmlformats.org/drawingml/2006/main">
            <a:r>
              <a:t>Target time: 50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original frontend README roles and Git commit history.</a:t>
            </a:r>
          </a:p>
          <a:p xmlns:a="http://schemas.openxmlformats.org/drawingml/2006/main">
            <a:r>
              <a:t>Each member should describe one concrete decision or artifact from their own section.</a:t>
            </a:r>
          </a:p>
          <a:p xmlns:a="http://schemas.openxmlformats.org/drawingml/2006/main">
            <a:r>
              <a:t>Target time: 45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docs/live-demo-script.md.</a:t>
            </a:r>
          </a:p>
          <a:p xmlns:a="http://schemas.openxmlformats.org/drawingml/2006/main">
            <a:r>
              <a:t>Prepare the admin credentials and terminal before presenting. Keep the demonstration under four minutes.</a:t>
            </a:r>
          </a:p>
          <a:p xmlns:a="http://schemas.openxmlformats.org/drawingml/2006/main">
            <a:r>
              <a:t>Target time before demo: 30 seconds. Live demo: about 4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honest about the prototype boundary. The catalogue and product CRUD are integrated. Authentication and payment remain demonstration features.</a:t>
            </a:r>
          </a:p>
          <a:p xmlns:a="http://schemas.openxmlformats.org/drawingml/2006/main">
            <a:r>
              <a:t>Explain how security would improve with sessions, password hashing, authorisation middleware and audit logs.</a:t>
            </a:r>
          </a:p>
          <a:p xmlns:a="http://schemas.openxmlformats.org/drawingml/2006/main">
            <a:r>
              <a:t>Target time: 65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complete flow from customer interface to API to database.</a:t>
            </a:r>
          </a:p>
          <a:p xmlns:a="http://schemas.openxmlformats.org/drawingml/2006/main">
            <a:r>
              <a:t>Invite questions. Use the Q&amp;A topics in the assessment brief to prepare each team member.</a:t>
            </a:r>
          </a:p>
          <a:p xmlns:a="http://schemas.openxmlformats.org/drawingml/2006/main">
            <a:r>
              <a:t>Target time: 30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97b29e9c04f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2bccddf5641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a217f163042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3841d881f41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555836e58846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a1560fe6946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7A939E-2D73-49D3-B574-9B05996F0E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91448C-D1BD-4F20-B0C6-EE2ADBA5A5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6E5F9C-6EF8-405F-8AD4-75ADE41A1F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1D81DB-0B7B-476B-A3F9-C9DA07207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422CBB-0EFB-4964-A35F-1721BAE2D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A4AB9C-5EDE-4B84-82B7-B7A3654503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F79F49-1412-45CB-983A-DA189641E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92D9DD-5140-45D7-8920-7D407EFF69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30CC47-B316-4E78-BCEB-D095B2A1D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7ED403-AFA5-4E01-9501-67DF0C43A6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6440af70434d18" /><Relationship Type="http://schemas.openxmlformats.org/officeDocument/2006/relationships/slideLayout" Target="/ppt/slideLayouts/slideLayout1.xml" Id="R473e439c02ad4607" /><Relationship Type="http://schemas.openxmlformats.org/officeDocument/2006/relationships/slideLayout" Target="/ppt/slideLayouts/slideLayout2.xml" Id="R6038cf96f6914cd9" /><Relationship Type="http://schemas.openxmlformats.org/officeDocument/2006/relationships/slideLayout" Target="/ppt/slideLayouts/slideLayout3.xml" Id="R46f112c80976484c" /><Relationship Type="http://schemas.openxmlformats.org/officeDocument/2006/relationships/slideLayout" Target="/ppt/slideLayouts/slideLayout4.xml" Id="R38557c381e7243cb" /><Relationship Type="http://schemas.openxmlformats.org/officeDocument/2006/relationships/slideLayout" Target="/ppt/slideLayouts/slideLayout5.xml" Id="R063cca9d617f4fb7" /><Relationship Type="http://schemas.openxmlformats.org/officeDocument/2006/relationships/slideLayout" Target="/ppt/slideLayouts/slideLayout6.xml" Id="R32c7f28148fe4f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3e439c02ad4607"/>
    <p:sldLayoutId xmlns:r="http://schemas.openxmlformats.org/officeDocument/2006/relationships" id="2147483650" r:id="R6038cf96f6914cd9"/>
    <p:sldLayoutId xmlns:r="http://schemas.openxmlformats.org/officeDocument/2006/relationships" id="2147483651" r:id="R46f112c80976484c"/>
    <p:sldLayoutId xmlns:r="http://schemas.openxmlformats.org/officeDocument/2006/relationships" id="2147483652" r:id="R38557c381e7243cb"/>
    <p:sldLayoutId xmlns:r="http://schemas.openxmlformats.org/officeDocument/2006/relationships" id="2147483653" r:id="R063cca9d617f4fb7"/>
    <p:sldLayoutId xmlns:r="http://schemas.openxmlformats.org/officeDocument/2006/relationships" id="2147483654" r:id="R32c7f28148fe4f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936839c384342" /><Relationship Type="http://schemas.openxmlformats.org/officeDocument/2006/relationships/notesSlide" Target="/ppt/notesSlides/notesSlide1.xml" Id="R288adbb5240c4c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378feb3eb42fc" /><Relationship Type="http://schemas.openxmlformats.org/officeDocument/2006/relationships/notesSlide" Target="/ppt/notesSlides/notesSlide2.xml" Id="R3e79642ba31e42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ec6e6c8554cd6" /><Relationship Type="http://schemas.openxmlformats.org/officeDocument/2006/relationships/notesSlide" Target="/ppt/notesSlides/notesSlide3.xml" Id="R13bda1dfcf1c40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d7e4cfc0d42db" /><Relationship Type="http://schemas.openxmlformats.org/officeDocument/2006/relationships/notesSlide" Target="/ppt/notesSlides/notesSlide4.xml" Id="R79467f17183646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9eb196f114ac4" /><Relationship Type="http://schemas.openxmlformats.org/officeDocument/2006/relationships/notesSlide" Target="/ppt/notesSlides/notesSlide5.xml" Id="R2dee3785679341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fc2d7563b046ad" /><Relationship Type="http://schemas.openxmlformats.org/officeDocument/2006/relationships/notesSlide" Target="/ppt/notesSlides/notesSlide6.xml" Id="R552e75b9d2ae4a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1709fd5864034" /><Relationship Type="http://schemas.openxmlformats.org/officeDocument/2006/relationships/image" Target="/ppt/media/image.png" Id="Recde34c25bd844b0" /><Relationship Type="http://schemas.openxmlformats.org/officeDocument/2006/relationships/notesSlide" Target="/ppt/notesSlides/notesSlide7.xml" Id="R91e690eae7bd40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9dce874c3441a" /><Relationship Type="http://schemas.openxmlformats.org/officeDocument/2006/relationships/image" Target="/ppt/media/image.jpeg" Id="R84f503990c1a48a2" /><Relationship Type="http://schemas.openxmlformats.org/officeDocument/2006/relationships/notesSlide" Target="/ppt/notesSlides/notesSlide8.xml" Id="R29e1834e552e41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ee541d2494266" /><Relationship Type="http://schemas.openxmlformats.org/officeDocument/2006/relationships/notesSlide" Target="/ppt/notesSlides/notesSlide9.xml" Id="Rf822dbcfaf1841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4af95e98634ae5" /><Relationship Type="http://schemas.openxmlformats.org/officeDocument/2006/relationships/notesSlide" Target="/ppt/notesSlides/notesSlide10.xml" Id="Rc9004d8a833a42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7a1b0a2ee4cdc" /><Relationship Type="http://schemas.openxmlformats.org/officeDocument/2006/relationships/notesSlide" Target="/ppt/notesSlides/notesSlide11.xml" Id="R21cc9545f61a48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348c02dbb4b4a" /><Relationship Type="http://schemas.openxmlformats.org/officeDocument/2006/relationships/notesSlide" Target="/ppt/notesSlides/notesSlide12.xml" Id="R22ce8dbc161943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826cfa1f24531" /><Relationship Type="http://schemas.openxmlformats.org/officeDocument/2006/relationships/notesSlide" Target="/ppt/notesSlides/notesSlide13.xml" Id="Ra4973cb397de4c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658bcb8a044e8" /><Relationship Type="http://schemas.openxmlformats.org/officeDocument/2006/relationships/notesSlide" Target="/ppt/notesSlides/notesSlide14.xml" Id="R97fa1cf60c7441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5cc9e915094eb5" /><Relationship Type="http://schemas.openxmlformats.org/officeDocument/2006/relationships/notesSlide" Target="/ppt/notesSlides/notesSlide15.xml" Id="R745dbeb1cd4840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73A3C-18E7-417D-B884-39E322A1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990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18697-AEFC-4B29-B30F-36910871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810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Secure Retail</a:t>
            </a:r>
          </a:p>
          <a:p xmlns:a="http://schemas.openxmlformats.org/drawingml/2006/main">
            <a:pPr>
              <a:def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Product Catalogue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557B8-9B72-45B5-BD69-83CD8A28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defPPr>
            <a:lvl1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1pPr>
            <a:lvl2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2pPr>
            <a:lvl3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3pPr>
            <a:lvl4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4pPr>
            <a:lvl5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5pPr>
            <a:lvl6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6pPr>
            <a:lvl7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7pPr>
            <a:lvl8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8pPr>
            <a:lvl9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E9DDCA"/>
                </a:solidFill>
                <a:latin typeface="Arial"/>
                <a:ea typeface="Arial"/>
                <a:cs typeface="Arial"/>
              </a:rPr>
              <a:t>Final Project Showcase and Assessment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BE3B0-8BF3-4E59-9E28-F5A86C3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C8C2B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C2B8"/>
                </a:solidFill>
                <a:latin typeface="Arial"/>
                <a:ea typeface="Arial"/>
                <a:cs typeface="Arial"/>
              </a:rPr>
              <a:t>Capstone B · Sprint 4 · Pop Culture Clothing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153B8-F4E7-4724-98FE-94B6524C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9E988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E988F"/>
                </a:solidFill>
                <a:latin typeface="Arial"/>
                <a:ea typeface="Arial"/>
                <a:cs typeface="Arial"/>
              </a:rPr>
              <a:t>12–15 minute group presentation and live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7DC4A-E162-4813-B966-C41CE95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90550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55655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75EB0-1FF1-4678-B176-E5149D3B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E5601-0DF4-4AD3-A121-3E56D6AF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A full-stack catalogue for customers and retail administrators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10A19-04E3-4AD0-A7BF-7714C79A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2D2EE-C6F1-4F79-8D58-A882595E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C404C-F250-4240-ADC9-A419C7D6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6824A-725F-44AE-81D7-5126DBD9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05A35-0DFC-472C-BB86-8EEE5BC1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The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631DB-3C29-4F9B-904E-8912CB17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Customers need accurate product details before buying. Staff need one reliable place to maintain products, variants and stock-related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92707-055E-499F-B152-1385364B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DF693-6C9B-45C7-826D-86929758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The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C5779-52B2-483B-896B-50B1A60E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4857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Responsive customer storefront with search, filters, product detail, wishlist and cart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Administrator portal with database-backed product management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Express API connecting the interface to a structured SQLite database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Automated validation and CRUD integration 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DE6A0-1A1B-4E09-9ECA-0D6354AF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B5414-3A15-41C7-8114-0E2BA1B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prepared catalogue products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7B614-A12F-41A4-B2B4-BA244AFF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387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242AF-325A-4F79-B64E-61C43D54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387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product categories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69B31A-EDDE-40A6-8399-85F1DC6B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387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90C1D-88E3-4B7C-B0A9-83C27267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387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user roles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B192A-D123-40A9-8633-35FA044F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3870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9F6C7-BC78-4139-AADB-C98DF492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387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integrated application</a:t>
            </a:r>
          </a:p>
        </p:txBody>
      </p:sp>
    </p:spTree>
    <p:extLst>
      <p:ext uri="{BB962C8B-B14F-4D97-AF65-F5344CB8AC3E}">
        <p14:creationId xmlns:p14="http://schemas.microsoft.com/office/powerpoint/2010/main" val="2053001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9EB63-29B3-4167-A912-F29FFDE4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Requirements and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84E24-77C3-42BE-8DBE-80549C3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Three interviews and competitor analysis shaped the minimum viable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F2215-8521-45E4-A8B6-C0DE9F64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0F19A-A48A-4F0A-9C99-A9385BF4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46678-01EF-44B6-9FFC-E810180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6572D-E3BB-44F2-9DA6-AA354542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3C538-1D00-48F0-A898-FD7E13A22862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62400"/>
                <a:gridCol w="4000500"/>
              </a:tblGrid>
              <a:tr h="5810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Research finding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System requirement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response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Product decisions need detail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Price, description, images and variants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Database product and variant entities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Shoppers want fast discovery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Search, sorting and category filters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Responsive catalogue controls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Trust depends on clarity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Returns, contact and checkout information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Visible policy and support pages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Staff must maintain records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Admin Create, Read, Update and Delete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Product CRUD through the Express API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The server is the source of truth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Validation before database writes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HTTP 400 errors with validation details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CA246-F962-4FF6-A609-24D1E1E4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Business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F8564-D537-473F-AE26-E21ED60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67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Positive prices · unique emails and product variants · role separation · controlled order and payment statuses</a:t>
            </a:r>
          </a:p>
        </p:txBody>
      </p:sp>
    </p:spTree>
    <p:extLst>
      <p:ext uri="{BB962C8B-B14F-4D97-AF65-F5344CB8AC3E}">
        <p14:creationId xmlns:p14="http://schemas.microsoft.com/office/powerpoint/2010/main" val="798008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72BF90-2920-41F7-A345-6FC46AC971AD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6629400" y="2352675"/>
            <a:ext cx="2200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905A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BDEEE-DB8A-4BE7-BA1B-A2D6002C5262}"/>
              </a:ext>
            </a:extLst>
          </p:cNvPr>
          <p:cNvCxnSpPr>
            <a:stCxn xmlns:a="http://schemas.openxmlformats.org/drawingml/2006/main" id="12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3914775" y="2352675"/>
            <a:ext cx="2200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905A"/>
            </a:solidFill>
            <a:prstDash val="soli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8C9DBE-260E-48FA-9F03-6D03B9AF1514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200150" y="2352675"/>
            <a:ext cx="2200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905A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FA05B8-9AC3-488C-A97A-84CC0DC3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Sprint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88F45-516C-4B6B-8492-C21AD2EF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Each sprint added evidence and reduced technical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8061A-DF23-4A39-96D6-75F3FEFD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34BDD-3B8C-4792-BF8D-88C3B9F6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DD8E-BA8F-4855-A7E6-47E709B9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62DCA-589E-430B-B4E0-4854851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AF77D-6A46-40B8-9372-DC212CC3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F9A12-2FFD-45A3-B39D-F22CF8EA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907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ADEAE-CAE8-4E25-A6D6-B6C76A79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Sprint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2192B-D312-4FF1-BCAF-660458EF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F375B-0687-4F4F-8ACA-3D5AA22E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User interviews, industry review and product data investigation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A4DC8-788B-413F-95B8-B6AED2F0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95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FEC5B-F1DD-41BA-8731-1E3F2F4C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F9311-4AE8-48ED-9BE1-96AB93B8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76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Sprint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E02FD-75F1-4A69-AD0C-968EBC42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81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404D0-1176-4F5F-8B29-CBB1034D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766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Requirements, business rules, data dictionary and relational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4C8FD-8FC6-4C47-8EB5-8475529D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8C476-CA3D-4622-A439-59FCD399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50D05-D7C2-4D0D-A639-C74D9E2C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Sprint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8C11D-31F1-4F47-943F-0C2A1D17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72B36-CD4D-45E8-9B1B-5E9AFCBE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766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React frontend, SQLite database, Express API and endpoint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D3B97-1D3A-407E-817E-7C82D5D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26C10-A609-49E6-B5B6-78EC4474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A31CA-A948-4F7A-A3F6-477C8D50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76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Sprint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AF393-2A6C-4385-928E-DAB5131F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81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Integrate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20A931-5894-4687-95E8-314ECBAD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766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Database-backed CRUD, automated testing, final documentation and showcase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8ABA3-875E-4D90-AAC5-A63DAA95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Final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B55A41-21F4-4FA0-A5D7-4B6DFDD3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91150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One repository now contains the source code, database, API, testing evidence and presentation materials.</a:t>
            </a:r>
          </a:p>
        </p:txBody>
      </p:sp>
    </p:spTree>
    <p:extLst>
      <p:ext uri="{BB962C8B-B14F-4D97-AF65-F5344CB8AC3E}">
        <p14:creationId xmlns:p14="http://schemas.microsoft.com/office/powerpoint/2010/main" val="889708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C923A-2126-4A60-A7D2-58A495B6A22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82000" y="3028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9905A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9AAD5-F25B-43DB-B3CC-6987FDC108A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638800" y="3028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9905A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1D7EC-BAAD-476D-B27A-2856D7E60C5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5600" y="3028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9905A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9E322-1DFF-401D-A043-85FEEE0D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Frontend, backend and database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A1899-9B38-44E8-A75A-A19B5CA0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A user action travels through one controlled request and response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9B552-3AE0-4F4C-A2A2-FD2917B6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1642D-2828-41FF-9119-33F6981B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3CD95-1DE9-4079-AC97-019BC1AC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82E5E-699E-4C63-8510-2B57C27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8C1C0-5C86-46C9-B3E8-E62D09F8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65D53-3764-4FC9-A167-3FA86C1D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88CB3-6870-4758-9CB4-1E6542E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Browses or manages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053C-B56C-44AE-AF46-D79DCDA0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33B71-6818-4538-85FE-40B76CBB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90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React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8BA23-89A9-40A0-B854-CA86FBA2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Sends JSON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E792B-2D9C-4B32-B998-52EBD275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C46EB-886D-4DD2-8E5D-269D2C97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90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Express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5B499-84C9-4337-9752-82B65F83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E9DDCA"/>
                </a:solidFill>
                <a:latin typeface="Arial"/>
                <a:ea typeface="Arial"/>
                <a:cs typeface="Arial"/>
              </a:rPr>
              <a:t>Validates and runs 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C2376-0A31-4EE2-838F-DF6CB6E6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6695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0770F-FAFB-4FFA-B6D4-1A8F3E7E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908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SQLite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50586-AC9F-4D09-A657-8482424D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173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Stores relational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32033-3927-42E5-8C20-43642C16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Response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F96AB-3D15-4691-BB97-FF7CBB5A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14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SQLite returns rows → Express converts them to JSON → React updates the customer catalogue or administrator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D6123-7E06-4B3F-A53D-F6D28509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625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defPPr>
            <a:lvl1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1pPr>
            <a:lvl2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2pPr>
            <a:lvl3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3pPr>
            <a:lvl4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4pPr>
            <a:lvl5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5pPr>
            <a:lvl6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6pPr>
            <a:lvl7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7pPr>
            <a:lvl8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8pPr>
            <a:lvl9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6B4A"/>
                </a:solidFill>
                <a:latin typeface="Arial"/>
                <a:ea typeface="Arial"/>
                <a:cs typeface="Arial"/>
              </a:rPr>
              <a:t>Production uses one server: Express serves both the compiled frontend and `/api` routes.</a:t>
            </a:r>
          </a:p>
        </p:txBody>
      </p:sp>
    </p:spTree>
    <p:extLst>
      <p:ext uri="{BB962C8B-B14F-4D97-AF65-F5344CB8AC3E}">
        <p14:creationId xmlns:p14="http://schemas.microsoft.com/office/powerpoint/2010/main" val="1018325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FDDB94-32A8-4888-B903-83FF7533C612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7124700" y="3771900"/>
            <a:ext cx="2305050" cy="1485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AA722F-CACD-4878-BFF0-75AFF7981844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2762250" y="52578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257B22-64AE-4184-BD0E-F81FC61459B8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0467975" y="2819400"/>
            <a:ext cx="1152525" cy="19050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8EAD39-76AC-42EC-8B86-ED916654D8B4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0467975" y="28194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70099E-5979-4D7E-90D7-9CE109C114B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762250" y="2286000"/>
            <a:ext cx="6667500" cy="6477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39037C-A037-4E6D-9FCE-9246A50B248A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86475" y="43053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8A70A8-5D4A-4E14-9CDF-0E4BB6177866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86475" y="28194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602382-2AAA-4DAD-BC79-C77D70158A5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724025" y="43053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375C69-22BB-440B-8939-2620D363855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724025" y="28194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905A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8B7E89-BBE9-474B-97D5-224080EC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Database design and ERD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45AE3-DC5A-47C0-B6B1-950AE24E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Nine tables support products, variants, users, carts, orders and payments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668E4-B4BE-4E42-AC46-377B4C34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1EFE9-40E6-4576-A0F3-63D164B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E3E7E-68C8-4B29-9EA5-22863E0A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F294A-8B99-47C0-97EC-44E1F65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37B97-DC87-4135-ACED-06C1B54B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68B89-C843-4216-9D4C-D4BA74FA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7FB43-70CB-49FB-A2A5-0AEB8E30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user_id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role, email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3A95A-6F8F-456B-8F2D-1FD03360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3DE0F-4FC4-4171-BBFF-164B3AF3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CARTS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01DF9-FF68-4891-91E3-8CF4A3B1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cart_id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FK user_id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5C3AB-6237-48BE-BAA2-60092DC2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AB548-69A2-413C-91BD-85B0F103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CART_ITEMS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20C9A-66CE-4A6B-A8A6-AC9BA14C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cartitems_id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FK cart_id, variant_id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AA750-F657-4B72-BEA2-F50D5A05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E9C0C-F0BC-453F-9B76-117DFF0A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764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E8944-7AE3-44B2-B083-64EBADD0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52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category_id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04D61-A429-4DE1-A014-E9C3B588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DDCA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D08A9-92FF-44D9-9444-BCD40F0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62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26CC7-FBD2-40F0-8AAB-A91D37B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product_id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FK category_id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8C369-D925-4F72-BDBF-5BA26EE3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244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86E75-7BF3-4682-BA3A-5B354943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PRODUCT_VARIANTS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0D039-027E-43BF-8ECA-A0C88B5F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24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variant_id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FK product_id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13096B-74E6-4461-AD11-A86F36B6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526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78623-D5EA-40D0-8F11-50966137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764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F8CA58-94C6-4ADA-A19F-39703EE9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526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order_id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FK user_id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341A6-170F-4F68-B7E9-6556675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71CD2B-B2C2-42C2-A1EA-BAE54C37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623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ORDER_ITEMS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FD15CE-824F-469C-A181-AEA2821B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orderitems_id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FK order_id, variant_id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728313-798B-4390-8DD6-58F4A543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24400"/>
            <a:ext cx="2076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2CAE2-60DD-4859-BD54-15DA1F89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48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BC17BC-982F-421B-85AF-85FC53F0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24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PK payment_id</a:t>
            </a:r>
          </a:p>
          <a:p xmlns:a="http://schemas.openxmlformats.org/drawingml/2006/main">
            <a:pPr>
              <a:defRPr sz="11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FK order_id</a:t>
            </a:r>
          </a:p>
        </p:txBody>
      </p:sp>
    </p:spTree>
    <p:extLst>
      <p:ext uri="{BB962C8B-B14F-4D97-AF65-F5344CB8AC3E}">
        <p14:creationId xmlns:p14="http://schemas.microsoft.com/office/powerpoint/2010/main" val="2019055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7E22E-D46E-4AB3-9A36-902126C4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Frontend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420B4-2228-4237-A5B2-D8A3E0EE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The responsive interface supports customer and administrator journeys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AB5BE-CB38-4289-A881-276479D4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26EDE-34D7-4983-B8EC-100E4DE4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1E661-FD6F-4C07-981B-5090D81C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EEC65-BAE8-4145-87B1-40D657DE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0AC6B-7C21-4DB7-B538-F1C036A63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e34c25bd844b0"/>
          <a:srcRect xmlns:a="http://schemas.openxmlformats.org/drawingml/2006/main" l="0" t="42494" r="0" b="424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638175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5BBB5-E04F-4C26-8F94-15B38EAB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Customer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B995B-9003-4126-9B1E-3E67387D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61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Homepage and product discovery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Search, category filters and sorting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detail with variants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111"/>
                </a:solidFill>
                <a:latin typeface="Arial"/>
                <a:ea typeface="Arial"/>
                <a:cs typeface="Arial"/>
              </a:rPr>
              <a:t>Wishlist, cart and checkout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19272-FAC5-439C-A324-99D59594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Administrator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52A87-4C31-49FB-90DF-9D9E599F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361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Role-specific sign-in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management and inventory views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Orders, customers, promotions and analytics</a:t>
            </a:r>
          </a:p>
        </p:txBody>
      </p:sp>
    </p:spTree>
    <p:extLst>
      <p:ext uri="{BB962C8B-B14F-4D97-AF65-F5344CB8AC3E}">
        <p14:creationId xmlns:p14="http://schemas.microsoft.com/office/powerpoint/2010/main" val="482451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A65C9-8270-4E07-B5DD-06E87C07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Backend and API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98315-4FAE-42D2-8D61-C0E62ACE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Express validates product data and translates requests into SQL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BFF96-CE6D-4766-AC01-6AD386B8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3C8EF-FB6F-4E46-9BF0-596E8CFB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66A59-9F34-4738-BAEC-9B6DF8C5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45178-80AA-4992-AD20-D8A4BBFB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F638A-A049-4BCF-AB89-4A4C896D09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03990c1a48a2"/>
          <a:srcRect xmlns:a="http://schemas.openxmlformats.org/drawingml/2006/main" l="0" t="3556" r="0" b="3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752600"/>
            <a:ext cx="4762500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BF4F6-4425-443C-8839-5B11F9C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6B4A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71AC2-C1ED-4112-A841-FC1E42D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/api/products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5496E-9E95-43E2-9B01-66E5E624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050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Catalogue with variants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C4A13-F6CD-4E27-B03C-168BC54F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6B4A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84B3D-E5E7-4442-B4F5-8B2CCC10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527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/api/products/:id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A870F-2180-4448-9B45-A7DEB137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79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Single 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09F86-1C9A-4ADD-AC8B-D297BECE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F3E47-69BC-42CE-917A-8E7149EB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95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/api/products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5E976-E9EC-4E5B-A57E-5D9E0FD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909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Create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637ED-AA6E-4873-BB88-014D03B7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EC8B2-0027-45AE-B4B8-B0D10871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/api/products/:id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2EEF75-829F-4A05-8D69-B9D10519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Update product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1EEE4B-B966-41F4-A112-59455830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EE344-36D4-41D9-BAAC-11597436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81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/api/products/:id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83468-D926-471E-9616-30F15F14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8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Delete product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41875-ADA1-48F6-9636-C1537927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Validation covers required text, positive prices, recognised categories, rating limits and at least one size and colour.</a:t>
            </a:r>
          </a:p>
        </p:txBody>
      </p:sp>
    </p:spTree>
    <p:extLst>
      <p:ext uri="{BB962C8B-B14F-4D97-AF65-F5344CB8AC3E}">
        <p14:creationId xmlns:p14="http://schemas.microsoft.com/office/powerpoint/2010/main" val="1812785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E14FB5-DA90-4AC2-A463-C9569B8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CRUD functionality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2517A-8378-481C-B9E1-9322F59E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Administrator actions now persist in SQLite and return clear HTTP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55F14-FD87-4BDF-A1E7-7D1695B2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C103-D508-4F4B-94BC-35FD8C59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46F79-D41D-45A4-BF37-406F4F8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9BB4F-94E8-495E-BECD-BB371DA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AB265-CC30-416B-A05C-8B8897C3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CREATE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F7C9A-A1AE-4467-8190-1BE579A4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145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9B05D-9F98-4072-B4AA-C41A1A0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573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BAE3B-9D6D-4238-9CC0-F027F10A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95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product and variants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F2445-B7D4-4571-A215-2963B68D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95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6B4A"/>
                </a:solidFill>
                <a:latin typeface="Arial"/>
                <a:ea typeface="Arial"/>
                <a:cs typeface="Arial"/>
              </a:rPr>
              <a:t>HTTP 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845EF-AFAC-4494-B9D0-EEABD453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0184F-8EAF-45F4-8796-026E1E32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9DCC6-1E16-4F7F-88F2-B7E406B2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813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1B6B4-E5CE-47D6-94F3-E2E6087A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241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C5032-4823-44AF-B64F-F8CE196B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or one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6C81F-966D-43D5-96F8-3E45189A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62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6B4A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3107D-E695-4959-8416-EDA1AA91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2EF11-0491-4F29-93D1-F228D96B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72D60-B20B-4F02-BC3A-88AFB6EF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481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1CDE4-ED88-46B6-A193-EA606DBE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909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F6995-7D1B-44F0-95AE-36EBC072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290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Edited product and variants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43DA5-2736-4D3D-9263-1AEFDB53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29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24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6B4A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583FE-628E-4B6D-B090-14C80280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978532-3AD8-478C-9744-66A177B6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DELETE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27FBF4-7FD2-4C41-BDED-4D6C5469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14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DE7A3-D00D-4A0B-8F3B-EBCE4380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577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371B5-5275-4EAC-A318-3D15D01A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95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Unused product removed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CFC1C-3BCE-41D2-A075-0F6C9B2D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95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43D3D"/>
                </a:solidFill>
                <a:latin typeface="Arial"/>
                <a:ea typeface="Arial"/>
                <a:cs typeface="Arial"/>
              </a:rPr>
              <a:t>HTTP 204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29991-BA17-4480-B678-0B7DCFFC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Safe failure states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25EB0F-59E7-4D2A-A9E3-0C5C6F77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9436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400 invalid data · 404 missing product · 409 product referenced by a cart or order · 500 unexpected database failure</a:t>
            </a:r>
          </a:p>
        </p:txBody>
      </p:sp>
    </p:spTree>
    <p:extLst>
      <p:ext uri="{BB962C8B-B14F-4D97-AF65-F5344CB8AC3E}">
        <p14:creationId xmlns:p14="http://schemas.microsoft.com/office/powerpoint/2010/main" val="977753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7B5E0-D558-41A9-9DA5-92CE3D3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Testing and 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E4C32-3F1F-428F-B32A-964F6B2F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The automated integration test completed every prepared scenario successfully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D1F05-A517-47D0-8B13-720469E1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91EA2-867F-472F-AD03-0271360C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A3549-E951-4FC9-814D-1C6A416E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C74F5-FF82-4C03-89AA-24F7D5C9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CC198-46BD-4697-A3E4-1C5B725A4B94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00250"/>
                <a:gridCol w="4248150"/>
                <a:gridCol w="2000250"/>
              </a:tblGrid>
              <a:tr h="48815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Production build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Bundle compiles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2,217 modules transformed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6B4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Invalid create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HTTP 400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Validation details returned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6B4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Create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HTTP 201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Database ID returned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6B4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Read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HTTP 200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Created product returned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6B4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Update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HTTP 200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Name and price persisted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6B4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Delete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HTTP 204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Record removed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6B4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Read after delete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HTTP 404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Product not found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6B4A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57AC7-36F8-4B27-A023-78B98393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Repeatable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21CB8-DD9D-4C61-9548-32FC81BB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19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npm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9D301-6623-4E43-AA9F-92668869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8483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The test cleans up its temporary record after completion.</a:t>
            </a:r>
          </a:p>
        </p:txBody>
      </p:sp>
    </p:spTree>
    <p:extLst>
      <p:ext uri="{BB962C8B-B14F-4D97-AF65-F5344CB8AC3E}">
        <p14:creationId xmlns:p14="http://schemas.microsoft.com/office/powerpoint/2010/main" val="609877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EF6FB-0472-44D8-B850-CF1E5AE1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GitHub evidence and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7D40A-C7C8-4B9F-89A4-D472D4B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The repository records research, implementation, integration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AA293-5446-4282-B1B3-96FA6331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B3CF4-608F-4FE4-8DB0-424A7CB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177DA-44EE-4A4B-B28D-73493FD3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CD1DB-24E6-4187-AAB8-145846F6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E251B-9A2E-4B61-91F9-3824A80F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E3E4-5DFA-4735-8050-2A1A7443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812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9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05201-0B7C-4881-83B9-BF5D982C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14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4eae6ba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87CB1-A8EA-48BC-8951-89DACC5C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project repository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4B270-CC1E-4590-A6E8-C296091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B6F11-5DFB-48F3-B21F-3B195C48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90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53FC2-3464-40D8-A79E-FA11A196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52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C349C-3EBB-4DD9-B608-2E21680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52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investigation, user research and industry findings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59D6F-1D41-48E2-9510-B95BB47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A0F7A-D6A1-4F89-8E70-A34149A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576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90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090D7-97C8-4DC7-AA26-72670AF4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90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c28a935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3760E3-105C-4B35-B3D8-204328FD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909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Sprint 3 backend and SQLite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1E594-8CC1-441B-8E27-F0AF0304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C2E21-B203-4A62-A1A4-F74EABA0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90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D10F7-72E7-48D6-A923-42BF64B4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29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93d9f0a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6197E-3E82-4073-82AE-589DF81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291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Frontend and backend combined into one application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0FA27-DCE3-4ECF-B2B9-84467EB5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49828-E1C7-4278-BCBC-E2AE8B3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7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F81D7-EF38-4BCF-8593-DB6B9BFE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67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Database CRUD, tests and assessment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00A1D-9A57-415F-88C7-2F848AA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34099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D48C6-66FE-47C4-81C7-7849D4FE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38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BDF30-C552-4F81-967F-14DC4DB6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435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github.com/amitpandeyvu-gif/</a:t>
            </a:r>
          </a:p>
          <a:p xmlns:a="http://schemas.openxmlformats.org/drawingml/2006/main">
            <a:pPr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secure-retail-capstone-b</a:t>
            </a:r>
          </a:p>
        </p:txBody>
      </p:sp>
    </p:spTree>
    <p:extLst>
      <p:ext uri="{BB962C8B-B14F-4D97-AF65-F5344CB8AC3E}">
        <p14:creationId xmlns:p14="http://schemas.microsoft.com/office/powerpoint/2010/main" val="8737562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13E8F-7937-4EC8-A694-577146F0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Team contributions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3FB25-454C-4DF1-A2BE-33F2B1BF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Documented roles align presentation ownership with project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7886C-C313-45CE-B6AD-7601273D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B4488-0865-47A5-B4C3-C8514176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A4350-44D4-4B9D-AAA0-CC0831D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8B8B2-77F2-46A5-8FF1-9093F835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679B0-5DDB-4619-AE4A-90BDE29F7DC7}"/>
              </a:ext>
            </a:extLst>
          </p:cNvPr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857750"/>
                <a:gridCol w="3676650"/>
              </a:tblGrid>
              <a:tr h="53884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Team member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contribution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Presentation section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8D0C4"/>
                      </a:solidFill>
                      <a:prstDash val="solid"/>
                    </a:lnR>
                    <a:lnT w="9525">
                      <a:solidFill>
                        <a:srgbClr val="D8D0C4"/>
                      </a:solidFill>
                      <a:prstDash val="solid"/>
                    </a:lnT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111111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Amit Pandey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Leadership, frontend, backend and final integration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Overview, backend and demo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Sujal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Frontend development and product data investigation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Frontend and requirements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Manish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Interface design and user research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Design and target users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Manoj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GitHub collaboration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Sprint journey and GitHub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Nabin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Development and merchandise user research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CRUD and testing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Ashok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8D0C4"/>
                      </a:solidFill>
                      <a:prstDash val="solid"/>
                    </a:lnL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Industry investigation and code review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Research and reflection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8D0C4"/>
                      </a:solidFill>
                      <a:prstDash val="solid"/>
                    </a:lnR>
                    <a:lnB w="9525">
                      <a:solidFill>
                        <a:srgbClr val="D8D0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7BF6D-066D-462E-BEB6-F7D44186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defPPr>
            <a:lvl1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1pPr>
            <a:lvl2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2pPr>
            <a:lvl3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3pPr>
            <a:lvl4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4pPr>
            <a:lvl5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5pPr>
            <a:lvl6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6pPr>
            <a:lvl7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7pPr>
            <a:lvl8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8pPr>
            <a:lvl9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 i="0">
                <a:solidFill>
                  <a:srgbClr val="A43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43D3D"/>
                </a:solidFill>
                <a:latin typeface="Arial"/>
                <a:ea typeface="Arial"/>
                <a:cs typeface="Arial"/>
              </a:rPr>
              <a:t>Group leader check before submission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CE035-C4CA-44D5-8916-BB2A8607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Confirm student IDs, name spelling and the final speaking order in docs/team-contribution-record.md.</a:t>
            </a:r>
          </a:p>
        </p:txBody>
      </p:sp>
    </p:spTree>
    <p:extLst>
      <p:ext uri="{BB962C8B-B14F-4D97-AF65-F5344CB8AC3E}">
        <p14:creationId xmlns:p14="http://schemas.microsoft.com/office/powerpoint/2010/main" val="19201361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00CED-983C-449D-AA78-AED6FED3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69400-4288-4222-AF43-3C8B9BB1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A short prepared path proves the integration without risking untested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0D4E6-A867-44F2-886E-B97A3E8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45859-B758-4883-AF3A-3FF1143B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72BB5-D6A3-4171-975C-AE95A931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E1CF8-39D2-4976-AC13-2BCB64F5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167F8-8FB2-4F9C-9CDC-40BD6D6E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0D3AD-A902-438A-B3E5-B5F58F0A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9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A61C1-F1BF-4C45-B9D7-E0AC6BB6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38B74-52A4-4C94-B03A-1FDFBB1D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Open Shop and show database product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075E4-92AD-4E1B-91F1-7891B05D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76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28B7C-E591-4B56-9B69-6863DC13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9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624CE-E9B1-4D1C-B064-DCB20832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Create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977DA-F927-4FC9-A2A4-603B4C66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Add one clearly named demonstration 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6A525-5683-41A2-A931-164FB169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76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762E0-6608-4D7B-B381-027AAE69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19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007C6-32EE-4A52-945F-3ABDA95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E8C2D-0C36-48C5-874D-E16FEEB5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Change its price and confirm the saved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A57E4-D3F5-4E50-BD5F-3542DC48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76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A2D87B-635B-4244-98C1-B21A8AD6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9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6E7F7-39C7-4CEC-A589-2FFFD6F2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Delete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540C1-E1F9-4C99-AE65-150D1BA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Remove the same temporary 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CDB68-605A-4DA2-AB95-99F5981E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9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5441D1-D0A6-4967-8E8C-593A90CE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90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BB7CB-7EF3-4BC7-9041-320C8950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99575-354F-430B-8C7D-34872372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5280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Run npm test and show the passing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4C88E-3F36-42E3-A8C5-32DFABD3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829071-A7FE-4A81-83CE-59AA3C8A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Demo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18911-95D4-4EF4-A0D9-A99D9A87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244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only the temporary record. Keep the prepared catalogue unchanged and finish with the automated test.</a:t>
            </a:r>
          </a:p>
        </p:txBody>
      </p:sp>
    </p:spTree>
    <p:extLst>
      <p:ext uri="{BB962C8B-B14F-4D97-AF65-F5344CB8AC3E}">
        <p14:creationId xmlns:p14="http://schemas.microsoft.com/office/powerpoint/2010/main" val="18635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2FCA0-395F-493C-B550-0F1B441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Reflection and future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E8B4D-891F-45DE-BE01-C8299018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 The project proved the architecture and identified the next production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8536D-7149-47E1-93D5-8ADFA718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defPPr>
            <a:lvl1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1pPr>
            <a:lvl2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2pPr>
            <a:lvl3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3pPr>
            <a:lvl4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4pPr>
            <a:lvl5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5pPr>
            <a:lvl6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6pPr>
            <a:lvl7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7pPr>
            <a:lvl8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8pPr>
            <a:lvl9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 i="0">
                <a:solidFill>
                  <a:srgbClr val="B9905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905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AAB4E-22D7-4FF1-B45F-21CBFCF5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64C61-9F10-48FD-885A-F1D48A5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POP CULTURE CLOTHING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01568-0B36-47A0-A8F9-E950B20F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Capstone B · Sprint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2D5B5-D91C-460E-B319-C2529A91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What we learned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47D6E-D35C-45EA-98D0-B74BCFA6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Plan the data model before connecting interface state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transactions when one action changes several tables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Automated tests make a live demonstration safer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Git history works best when commits explain one clear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84941-822C-417E-83E9-23CFB871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883ED-AEA1-454A-B2DF-00E3063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defPPr>
            <a:lvl1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1pPr>
            <a:lvl2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2pPr>
            <a:lvl3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3pPr>
            <a:lvl4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4pPr>
            <a:lvl5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5pPr>
            <a:lvl6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6pPr>
            <a:lvl7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7pPr>
            <a:lvl8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8pPr>
            <a:lvl9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Next 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036BF-973D-46F5-9F3D-6C63A1F5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7625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Replace prototype credentials with hashed passwords and sessions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role middleware, audit logging and rate limiting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Persist carts, orders, inventory updates and payment events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Deploy with managed backups, monitoring and image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658E5-C68A-4FDB-A3C0-B5F6373B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defPPr>
            <a:lvl1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1pPr>
            <a:lvl2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2pPr>
            <a:lvl3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3pPr>
            <a:lvl4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4pPr>
            <a:lvl5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5pPr>
            <a:lvl6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6pPr>
            <a:lvl7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7pPr>
            <a:lvl8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8pPr>
            <a:lvl9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A43D3D"/>
                </a:solidFill>
                <a:latin typeface="Georgia"/>
                <a:ea typeface="Georgia"/>
                <a:cs typeface="Georgia"/>
              </a:rPr>
              <a:t>Current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BC75F-7F59-4CC7-9019-21AA4D4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defPPr>
            <a:lvl1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1pPr>
            <a:lvl2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2pPr>
            <a:lvl3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3pPr>
            <a:lvl4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4pPr>
            <a:lvl5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5pPr>
            <a:lvl6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6pPr>
            <a:lvl7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7pPr>
            <a:lvl8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8pPr>
            <a:lvl9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 i="0">
                <a:solidFill>
                  <a:srgbClr val="69645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9645C"/>
                </a:solidFill>
                <a:latin typeface="Arial"/>
                <a:ea typeface="Arial"/>
                <a:cs typeface="Arial"/>
              </a:rPr>
              <a:t>Checkout and sign-in demonstrate the user experience. They require production authentication and payment services before real customer use.</a:t>
            </a:r>
          </a:p>
        </p:txBody>
      </p:sp>
    </p:spTree>
    <p:extLst>
      <p:ext uri="{BB962C8B-B14F-4D97-AF65-F5344CB8AC3E}">
        <p14:creationId xmlns:p14="http://schemas.microsoft.com/office/powerpoint/2010/main" val="660339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DFCFA-7A26-4103-9F0F-AEC586EA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9905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325F8-EC1E-4CF7-808F-E63CD07A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Complete, integrated</a:t>
            </a:r>
          </a:p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and ready to demonstrate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A73AC-B470-4432-8B35-B0D489A3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defPPr>
            <a:lvl1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1pPr>
            <a:lvl2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2pPr>
            <a:lvl3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3pPr>
            <a:lvl4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4pPr>
            <a:lvl5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5pPr>
            <a:lvl6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6pPr>
            <a:lvl7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7pPr>
            <a:lvl8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8pPr>
            <a:lvl9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 i="0">
                <a:solidFill>
                  <a:srgbClr val="E9DDC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E9DDCA"/>
                </a:solidFill>
                <a:latin typeface="Arial"/>
                <a:ea typeface="Arial"/>
                <a:cs typeface="Arial"/>
              </a:rPr>
              <a:t>The final system connects a responsive React storefront to an Express API and relational SQLite database, with persistent product CRUD and repeatable testing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70741-B5CC-434A-8CAD-97799F87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defPPr>
            <a:lvl1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1pPr>
            <a:lvl2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2pPr>
            <a:lvl3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3pPr>
            <a:lvl4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4pPr>
            <a:lvl5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5pPr>
            <a:lvl6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6pPr>
            <a:lvl7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7pPr>
            <a:lvl8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8pPr>
            <a:lvl9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B9905A"/>
                </a:solidFill>
                <a:latin typeface="Georgia"/>
                <a:ea typeface="Georgia"/>
                <a:cs typeface="Georgia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68BD9-D4EF-46A4-97C0-6F64E3F1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defPPr>
            <a:lvl1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1pPr>
            <a:lvl2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2pPr>
            <a:lvl3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3pPr>
            <a:lvl4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4pPr>
            <a:lvl5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5pPr>
            <a:lvl6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6pPr>
            <a:lvl7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7pPr>
            <a:lvl8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8pPr>
            <a:lvl9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github.com/amitpandeyvu-gif/secure-retail-capstone-b</a:t>
            </a:r>
          </a:p>
        </p:txBody>
      </p:sp>
    </p:spTree>
    <p:extLst>
      <p:ext uri="{BB962C8B-B14F-4D97-AF65-F5344CB8AC3E}">
        <p14:creationId xmlns:p14="http://schemas.microsoft.com/office/powerpoint/2010/main" val="556922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2026-10-26T12:25:04.6350000Z</dcterms:created>
  <dcterms:modified xsi:type="dcterms:W3CDTF">2026-10-26T12:25:04.6350000Z</dcterms:modified>
</coreProperties>
</file>